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D777B7-A552-C9A1-E4A3-4485A7A8AE43}" v="228" dt="2026-01-14T14:12:38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ea typeface="+mj-lt"/>
                <a:cs typeface="+mj-lt"/>
              </a:rPr>
              <a:t>Statistical Analysis of Volatility and Distribution Patterns of Global Top 10 Stocks</a:t>
            </a:r>
            <a:br>
              <a:rPr lang="en-US" dirty="0">
                <a:ea typeface="+mj-lt"/>
                <a:cs typeface="+mj-lt"/>
              </a:rPr>
            </a:br>
            <a:r>
              <a:rPr lang="en-US" sz="3200" dirty="0">
                <a:ea typeface="+mj-lt"/>
                <a:cs typeface="+mj-lt"/>
              </a:rPr>
              <a:t>Statistics for 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dirty="0">
                <a:ea typeface="+mn-lt"/>
                <a:cs typeface="+mn-lt"/>
              </a:rPr>
              <a:t>Group: C</a:t>
            </a:r>
            <a:endParaRPr lang="en-US" dirty="0"/>
          </a:p>
          <a:p>
            <a:pPr algn="l"/>
            <a:r>
              <a:rPr lang="en-US" dirty="0">
                <a:ea typeface="+mn-lt"/>
                <a:cs typeface="+mn-lt"/>
              </a:rPr>
              <a:t>Institution: Kyoto College of Graduate Studies for Informatics</a:t>
            </a:r>
            <a:endParaRPr lang="en-US" dirty="0"/>
          </a:p>
          <a:p>
            <a:pPr algn="l"/>
            <a:r>
              <a:rPr lang="en-US" dirty="0">
                <a:ea typeface="+mn-lt"/>
                <a:cs typeface="+mn-lt"/>
              </a:rPr>
              <a:t>Date: January 14</a:t>
            </a:r>
            <a:r>
              <a:rPr lang="en-US" baseline="30000" dirty="0">
                <a:ea typeface="+mn-lt"/>
                <a:cs typeface="+mn-lt"/>
              </a:rPr>
              <a:t>th</a:t>
            </a:r>
            <a:r>
              <a:rPr lang="en-US" dirty="0">
                <a:ea typeface="+mn-lt"/>
                <a:cs typeface="+mn-lt"/>
              </a:rPr>
              <a:t>,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3171E-C073-930E-E9AE-5964EF0FE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503"/>
            <a:ext cx="10515600" cy="1397643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Presentation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53A4E-4B0D-5BF0-9295-BA601979D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31787"/>
            <a:ext cx="10515600" cy="34451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Background and motivation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Objectives and statistical questions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Dataset and methodology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Key analysis results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Conclusions and insights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894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D890A-1D1A-B0BB-326D-72C240871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8097"/>
            <a:ext cx="10515600" cy="1428536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680B3-6F8F-3431-C365-148AD9690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6030"/>
            <a:ext cx="10515600" cy="39909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Financial markets generate massive time series data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Technology stocks are high growth but highly volatile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Statistical analysis is essential for IT-based financial systems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Focus on understanding return behavior beyond averages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237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89CA7-AC51-61EF-B986-A2952FF2F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&amp; Research Questions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A18CF-8C13-C481-6E73-214FCDF14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Main Objectives: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Analyze volatility and return distributions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Test normality assumptions in stock returns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Examine volume-volatility relationships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Key Questions: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Are returns normally distributed?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How risky are these assets statistically?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Does volume predict volatility?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107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96107-EA6E-BBAB-898E-425EF75EA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Dataset Overview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E30DC-216A-0B52-259D-D4AA2AD13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10 global companies: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NVDA, GOOGL, AAPL, MSFT, AMZN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TSM, AVGO, META, TSLA, Saudi Aramco (2222.SR)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5 years of daily historical data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Data source: Yahoo Finance (via </a:t>
            </a:r>
            <a:r>
              <a:rPr lang="en-US" dirty="0" err="1">
                <a:ea typeface="+mn-lt"/>
                <a:cs typeface="+mn-lt"/>
              </a:rPr>
              <a:t>yfinance</a:t>
            </a:r>
            <a:r>
              <a:rPr lang="en-US" dirty="0">
                <a:ea typeface="+mn-lt"/>
                <a:cs typeface="+mn-lt"/>
              </a:rPr>
              <a:t> API)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Variables: Date, Close Price, Trading Volume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42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4C299-3079-16BA-7B7C-968F591FE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Tools and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16AED-71AB-B84D-E32C-435089E73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Python-based analysis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Libraries used: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>
                <a:ea typeface="+mn-lt"/>
                <a:cs typeface="+mn-lt"/>
              </a:rPr>
              <a:t>yfinance</a:t>
            </a:r>
            <a:r>
              <a:rPr lang="en-US" dirty="0">
                <a:ea typeface="+mn-lt"/>
                <a:cs typeface="+mn-lt"/>
              </a:rPr>
              <a:t> – data acquisition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Pandas &amp; NumPy – data processing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Matplotlib &amp; Seaborn – visualization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SciPy – statistical testing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Reproducible workflow using Google </a:t>
            </a:r>
            <a:r>
              <a:rPr lang="en-US" dirty="0" err="1">
                <a:ea typeface="+mn-lt"/>
                <a:cs typeface="+mn-lt"/>
              </a:rPr>
              <a:t>Colab</a:t>
            </a:r>
            <a:endParaRPr lang="en-US" dirty="0" err="1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770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9D6A1-2FF8-49B7-58A9-E4367F3AB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627A3-4A98-219F-FB09-65AB3723C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Raw prices converted to returns for comparison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Daily Return: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Rt = (Pt − Pt−1) / Pt−1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Absolute Return used as volatility measure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Missing values removed after return calculation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923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ACD2D-0B35-7A86-59C6-053F7DF3D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Statistical Techniques Used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34FC6-FB48-D4AF-7302-36B041880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Descriptive statistics: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Mean, Standard Deviation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Skewness, Kurtosis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Normality testing: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Shapiro-Wilk test (α = 0.05)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Correlation analysis: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Pearson correlation (Volume vs Volatility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359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404BE-5C58-D595-5D4D-A203376EB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Descriptive Statistics (Key Findings)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56D91-53C0-6646-1ABC-A5F12830E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TSLA shows highest volatility (Std Dev = 0.0381)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Saudi Aramco is most stable (Std Dev = 0.0097)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META shows extreme kurtosis (21.04)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Evidence of fat-tailed return distributions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045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868B7-8E03-87EA-B7FE-761F9CF2D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71104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Price Trend Visualization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D7054-E167-2C8D-FDDA-E1CACEF5B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0274"/>
            <a:ext cx="10515600" cy="45366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Line chart of closing prices (5 years)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Clear growth patterns in US tech stocks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Higher fluctuation intensity in NVDA, TSLA, META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Industrial stock shows smoother trend</a:t>
            </a:r>
            <a:endParaRPr lang="en-US" dirty="0"/>
          </a:p>
        </p:txBody>
      </p:sp>
      <p:pic>
        <p:nvPicPr>
          <p:cNvPr id="4" name="Picture 3" descr="A graph of stock closing prices&#10;&#10;AI-generated content may be incorrect.">
            <a:extLst>
              <a:ext uri="{FF2B5EF4-FFF2-40B4-BE49-F238E27FC236}">
                <a16:creationId xmlns:a16="http://schemas.microsoft.com/office/drawing/2014/main" id="{2F4CFA9B-D7CD-4080-13AA-2A887CC79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522" y="3911428"/>
            <a:ext cx="5137064" cy="281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575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B7D9F-7AB6-619C-4898-5A34127D6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Distribution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CDB38-A143-9CBB-B656-C85122D71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Histograms with KDE vs normal curve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Returns show asymmetry and heavy tails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Normal distribution assumption visually violated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Extreme events occur more frequently than expected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graph of a distribution of daily returns&#10;&#10;AI-generated content may be incorrect.">
            <a:extLst>
              <a:ext uri="{FF2B5EF4-FFF2-40B4-BE49-F238E27FC236}">
                <a16:creationId xmlns:a16="http://schemas.microsoft.com/office/drawing/2014/main" id="{3ED2DF72-9964-F3EC-35BB-CFFD6A3FF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703" y="3780790"/>
            <a:ext cx="5375190" cy="283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285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29C9C-3BEE-C330-C668-73C75153F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Normality Test Results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98C7D-BBC0-89E6-8A60-68F32F599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Shapiro-Wilk test applied to all stocks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P-values ≈ 0 for all assets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Null hypothesis rejected in every case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Conclusion: No stock follows a normal distribution</a:t>
            </a:r>
            <a:endParaRPr lang="en-US">
              <a:ea typeface="+mn-lt"/>
              <a:cs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580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E9473-FB60-5873-0ADD-7CD502656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Volume vs Volatility Correlation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3F933-BAAE-52E8-03EA-B6BD27D01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Strong correlation in US tech stocks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META: r ≈ 0.66 (highest)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Weak correlation in Saudi Aramco (r ≈ 0.13)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All correlations statistically significant (p &lt; 0.05)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graph of trading volume&#10;&#10;AI-generated content may be incorrect.">
            <a:extLst>
              <a:ext uri="{FF2B5EF4-FFF2-40B4-BE49-F238E27FC236}">
                <a16:creationId xmlns:a16="http://schemas.microsoft.com/office/drawing/2014/main" id="{927A6C22-F3A3-B07D-C132-1C4C2E853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0573" y="3629410"/>
            <a:ext cx="4978744" cy="271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449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A729A-D443-4837-A0CC-923DF233D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18FE1-A4E0-4D47-7495-19076056A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Standard deviation alone is not enough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Fat tails imply frequent extreme price shocks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Normality based financial models are unreliable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Volume is a strong volatility signal in tech stocks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435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194A3-EA5D-C0A6-0379-54B3DBB57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Conclusion &amp;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4391B-4EE0-E487-0500-B6B2ABEB6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Financial IT systems must use advanced models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Asset specific risk modeling is essential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Volume based signals improve volatility prediction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Findings support robust, non Gaussian approaches</a:t>
            </a:r>
            <a:endParaRPr lang="en-US" dirty="0"/>
          </a:p>
          <a:p>
            <a:pPr marL="0" indent="0">
              <a:buNone/>
            </a:pPr>
            <a:endParaRPr lang="en-US" b="1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b="1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Thank You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323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Statistical Analysis of Volatility and Distribution Patterns of Global Top 10 Stocks Statistics for IT</vt:lpstr>
      <vt:lpstr>Presentation Overview</vt:lpstr>
      <vt:lpstr>Introduction</vt:lpstr>
      <vt:lpstr>Objective &amp; Research Questions </vt:lpstr>
      <vt:lpstr>  Dataset Overview  </vt:lpstr>
      <vt:lpstr>Tools and Environment</vt:lpstr>
      <vt:lpstr>Data Preprocessing</vt:lpstr>
      <vt:lpstr>Statistical Techniques Used</vt:lpstr>
      <vt:lpstr>Descriptive Statistics (Key Findings)</vt:lpstr>
      <vt:lpstr>Price Trend Visualization</vt:lpstr>
      <vt:lpstr>Distribution Analysis</vt:lpstr>
      <vt:lpstr> Normality Test Results </vt:lpstr>
      <vt:lpstr>Volume vs Volatility Correlation</vt:lpstr>
      <vt:lpstr>Key Insights</vt:lpstr>
      <vt:lpstr>Conclusion &amp;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96</cp:revision>
  <dcterms:created xsi:type="dcterms:W3CDTF">2026-01-14T13:40:02Z</dcterms:created>
  <dcterms:modified xsi:type="dcterms:W3CDTF">2026-01-14T14:13:07Z</dcterms:modified>
</cp:coreProperties>
</file>